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7" r:id="rId2"/>
    <p:sldId id="259" r:id="rId3"/>
    <p:sldId id="278" r:id="rId4"/>
    <p:sldId id="260" r:id="rId5"/>
    <p:sldId id="297" r:id="rId6"/>
    <p:sldId id="261" r:id="rId7"/>
    <p:sldId id="301" r:id="rId8"/>
    <p:sldId id="280" r:id="rId9"/>
    <p:sldId id="282" r:id="rId10"/>
    <p:sldId id="283" r:id="rId11"/>
    <p:sldId id="284" r:id="rId12"/>
    <p:sldId id="290" r:id="rId13"/>
    <p:sldId id="285" r:id="rId14"/>
    <p:sldId id="287" r:id="rId15"/>
    <p:sldId id="288" r:id="rId16"/>
    <p:sldId id="286" r:id="rId17"/>
    <p:sldId id="299" r:id="rId18"/>
    <p:sldId id="300" r:id="rId19"/>
    <p:sldId id="292" r:id="rId20"/>
    <p:sldId id="293" r:id="rId21"/>
    <p:sldId id="294" r:id="rId22"/>
    <p:sldId id="302" r:id="rId23"/>
    <p:sldId id="303" r:id="rId24"/>
    <p:sldId id="295" r:id="rId25"/>
    <p:sldId id="273" r:id="rId26"/>
  </p:sldIdLst>
  <p:sldSz cx="12188825" cy="6858000"/>
  <p:notesSz cx="121920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E04226-04EB-4CC8-8B7D-2C3343A91C19}" v="235" dt="2026-01-31T09:36:44.7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393" autoAdjust="0"/>
    <p:restoredTop sz="91111" autoAdjust="0"/>
  </p:normalViewPr>
  <p:slideViewPr>
    <p:cSldViewPr>
      <p:cViewPr varScale="1">
        <p:scale>
          <a:sx n="61" d="100"/>
          <a:sy n="61" d="100"/>
        </p:scale>
        <p:origin x="72" y="3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C227A-E090-4590-942B-3D9199A644A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1336675"/>
            <a:ext cx="41148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5146675"/>
            <a:ext cx="97536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52832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10156825"/>
            <a:ext cx="52832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D1787-EDA1-410E-8CED-1402E2CD7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623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41" y="3314955"/>
            <a:ext cx="6423025" cy="676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99" b="1" i="0" u="sng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6" y="5988313"/>
            <a:ext cx="52895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194" y="192736"/>
            <a:ext cx="6669354" cy="676980"/>
          </a:xfrm>
        </p:spPr>
        <p:txBody>
          <a:bodyPr lIns="0" tIns="0" rIns="0" bIns="0"/>
          <a:lstStyle>
            <a:lvl1pPr>
              <a:defRPr sz="4399" b="1" i="0" u="sng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194" y="192736"/>
            <a:ext cx="6669354" cy="676980"/>
          </a:xfrm>
        </p:spPr>
        <p:txBody>
          <a:bodyPr lIns="0" tIns="0" rIns="0" bIns="0"/>
          <a:lstStyle>
            <a:lvl1pPr>
              <a:defRPr sz="4399" b="1" i="0" u="sng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7" y="2459491"/>
            <a:ext cx="328707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9" y="2459491"/>
            <a:ext cx="328707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194" y="192736"/>
            <a:ext cx="6669354" cy="676980"/>
          </a:xfrm>
        </p:spPr>
        <p:txBody>
          <a:bodyPr lIns="0" tIns="0" rIns="0" bIns="0"/>
          <a:lstStyle>
            <a:lvl1pPr>
              <a:defRPr sz="4399" b="1" i="0" u="sng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7170" y="6286076"/>
            <a:ext cx="2945471" cy="4448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194" y="192735"/>
            <a:ext cx="6669354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 u="sng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91"/>
            <a:ext cx="68008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71"/>
            <a:ext cx="2418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7" y="9944871"/>
            <a:ext cx="17379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3" y="9944871"/>
            <a:ext cx="173799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22">
        <a:defRPr>
          <a:latin typeface="+mn-lt"/>
          <a:ea typeface="+mn-ea"/>
          <a:cs typeface="+mn-cs"/>
        </a:defRPr>
      </a:lvl2pPr>
      <a:lvl3pPr marL="914244">
        <a:defRPr>
          <a:latin typeface="+mn-lt"/>
          <a:ea typeface="+mn-ea"/>
          <a:cs typeface="+mn-cs"/>
        </a:defRPr>
      </a:lvl3pPr>
      <a:lvl4pPr marL="1371367">
        <a:defRPr>
          <a:latin typeface="+mn-lt"/>
          <a:ea typeface="+mn-ea"/>
          <a:cs typeface="+mn-cs"/>
        </a:defRPr>
      </a:lvl4pPr>
      <a:lvl5pPr marL="1828489">
        <a:defRPr>
          <a:latin typeface="+mn-lt"/>
          <a:ea typeface="+mn-ea"/>
          <a:cs typeface="+mn-cs"/>
        </a:defRPr>
      </a:lvl5pPr>
      <a:lvl6pPr marL="2285611">
        <a:defRPr>
          <a:latin typeface="+mn-lt"/>
          <a:ea typeface="+mn-ea"/>
          <a:cs typeface="+mn-cs"/>
        </a:defRPr>
      </a:lvl6pPr>
      <a:lvl7pPr marL="2742733">
        <a:defRPr>
          <a:latin typeface="+mn-lt"/>
          <a:ea typeface="+mn-ea"/>
          <a:cs typeface="+mn-cs"/>
        </a:defRPr>
      </a:lvl7pPr>
      <a:lvl8pPr marL="3199856">
        <a:defRPr>
          <a:latin typeface="+mn-lt"/>
          <a:ea typeface="+mn-ea"/>
          <a:cs typeface="+mn-cs"/>
        </a:defRPr>
      </a:lvl8pPr>
      <a:lvl9pPr marL="36569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22">
        <a:defRPr>
          <a:latin typeface="+mn-lt"/>
          <a:ea typeface="+mn-ea"/>
          <a:cs typeface="+mn-cs"/>
        </a:defRPr>
      </a:lvl2pPr>
      <a:lvl3pPr marL="914244">
        <a:defRPr>
          <a:latin typeface="+mn-lt"/>
          <a:ea typeface="+mn-ea"/>
          <a:cs typeface="+mn-cs"/>
        </a:defRPr>
      </a:lvl3pPr>
      <a:lvl4pPr marL="1371367">
        <a:defRPr>
          <a:latin typeface="+mn-lt"/>
          <a:ea typeface="+mn-ea"/>
          <a:cs typeface="+mn-cs"/>
        </a:defRPr>
      </a:lvl4pPr>
      <a:lvl5pPr marL="1828489">
        <a:defRPr>
          <a:latin typeface="+mn-lt"/>
          <a:ea typeface="+mn-ea"/>
          <a:cs typeface="+mn-cs"/>
        </a:defRPr>
      </a:lvl5pPr>
      <a:lvl6pPr marL="2285611">
        <a:defRPr>
          <a:latin typeface="+mn-lt"/>
          <a:ea typeface="+mn-ea"/>
          <a:cs typeface="+mn-cs"/>
        </a:defRPr>
      </a:lvl6pPr>
      <a:lvl7pPr marL="2742733">
        <a:defRPr>
          <a:latin typeface="+mn-lt"/>
          <a:ea typeface="+mn-ea"/>
          <a:cs typeface="+mn-cs"/>
        </a:defRPr>
      </a:lvl7pPr>
      <a:lvl8pPr marL="3199856">
        <a:defRPr>
          <a:latin typeface="+mn-lt"/>
          <a:ea typeface="+mn-ea"/>
          <a:cs typeface="+mn-cs"/>
        </a:defRPr>
      </a:lvl8pPr>
      <a:lvl9pPr marL="36569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8888/notebooks/WED/Lipsticks.ipynb#BIVARIATE-ANALYSI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4457" y="0"/>
            <a:ext cx="12192000" cy="6858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80412" y="5486400"/>
            <a:ext cx="3433445" cy="12811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999" marR="5080" indent="-27936" algn="l">
              <a:lnSpc>
                <a:spcPct val="100099"/>
              </a:lnSpc>
              <a:spcBef>
                <a:spcPts val="90"/>
              </a:spcBef>
            </a:pPr>
            <a:r>
              <a:rPr sz="2000" b="1" dirty="0">
                <a:solidFill>
                  <a:srgbClr val="FF0000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Presen</a:t>
            </a:r>
            <a:r>
              <a:rPr lang="en-IN" sz="2000" b="1" dirty="0">
                <a:solidFill>
                  <a:srgbClr val="FF0000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ted</a:t>
            </a:r>
            <a:r>
              <a:rPr sz="2000" b="1" spc="-85" dirty="0">
                <a:solidFill>
                  <a:srgbClr val="FF0000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by:</a:t>
            </a:r>
            <a:endParaRPr lang="en-IN" sz="2600" b="1" spc="-2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999" marR="5080" indent="-27936" algn="l">
              <a:lnSpc>
                <a:spcPct val="100099"/>
              </a:lnSpc>
              <a:spcBef>
                <a:spcPts val="90"/>
              </a:spcBef>
            </a:pPr>
            <a:r>
              <a:rPr lang="en-IN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Mamidi Hema Goud </a:t>
            </a:r>
            <a:endParaRPr lang="en-IN" sz="2000" b="0" spc="-10" dirty="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  <a:p>
            <a:pPr marL="39999" marR="5080" indent="-27936" algn="l">
              <a:lnSpc>
                <a:spcPct val="100099"/>
              </a:lnSpc>
              <a:spcBef>
                <a:spcPts val="90"/>
              </a:spcBef>
            </a:pPr>
            <a:r>
              <a:rPr sz="2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Batch</a:t>
            </a:r>
            <a:r>
              <a:rPr sz="2000" b="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sz="2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no:</a:t>
            </a:r>
            <a:r>
              <a:rPr sz="2000" b="0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 </a:t>
            </a:r>
            <a:r>
              <a:rPr lang="en-IN" sz="2000" b="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456</a:t>
            </a:r>
          </a:p>
          <a:p>
            <a:pPr marL="39999" marR="5080" indent="-27936" algn="l">
              <a:lnSpc>
                <a:spcPct val="100099"/>
              </a:lnSpc>
              <a:spcBef>
                <a:spcPts val="90"/>
              </a:spcBef>
            </a:pPr>
            <a:r>
              <a:rPr lang="en-IN" sz="2000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Branch : </a:t>
            </a:r>
            <a:r>
              <a:rPr lang="en-IN" sz="2000" spc="-2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w Cen MT" panose="020B0602020104020603" pitchFamily="34" charset="0"/>
                <a:cs typeface="Times New Roman" panose="02020603050405020304" pitchFamily="18" charset="0"/>
              </a:rPr>
              <a:t>Dilsukhnagar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latin typeface="Tw Cen MT" panose="020B06020201040206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046412" y="3124200"/>
            <a:ext cx="5910262" cy="140102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6355" rIns="0" bIns="0" rtlCol="0">
            <a:spAutoFit/>
          </a:bodyPr>
          <a:lstStyle/>
          <a:p>
            <a:pPr marL="93329" algn="ctr">
              <a:spcBef>
                <a:spcPts val="365"/>
              </a:spcBef>
            </a:pPr>
            <a:r>
              <a:rPr sz="3200" b="1" u="none" dirty="0">
                <a:latin typeface="Calibri (Body)"/>
                <a:cs typeface="Tahoma"/>
              </a:rPr>
              <a:t>PR</a:t>
            </a:r>
            <a:r>
              <a:rPr lang="en-US" sz="3200" b="1" u="none" dirty="0">
                <a:latin typeface="Calibri (Body)"/>
                <a:cs typeface="Tahoma"/>
              </a:rPr>
              <a:t>ESENTATION</a:t>
            </a:r>
            <a:r>
              <a:rPr sz="3200" b="1" u="none" spc="-110" dirty="0">
                <a:latin typeface="Calibri (Body)"/>
                <a:cs typeface="Tahoma"/>
              </a:rPr>
              <a:t> </a:t>
            </a:r>
            <a:r>
              <a:rPr sz="3200" b="1" u="none" spc="-25" dirty="0">
                <a:latin typeface="Calibri (Body)"/>
                <a:cs typeface="Tahoma"/>
              </a:rPr>
              <a:t>ON</a:t>
            </a:r>
            <a:br>
              <a:rPr lang="en-IN" sz="4000" b="1" u="none" spc="-25" dirty="0">
                <a:latin typeface="Tahoma"/>
                <a:cs typeface="Tahoma"/>
              </a:rPr>
            </a:br>
            <a:r>
              <a:rPr lang="en-IN" sz="2800" u="none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Lipstick Sales Analysis</a:t>
            </a:r>
            <a:br>
              <a:rPr lang="en-IN" sz="2800" u="none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u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76200"/>
            <a:ext cx="12038011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8" algn="ctr">
              <a:spcBef>
                <a:spcPts val="90"/>
              </a:spcBef>
            </a:pPr>
            <a:r>
              <a:rPr sz="3200" b="1" u="none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BBD40-8239-E67E-DCA3-D4E4228CC555}"/>
              </a:ext>
            </a:extLst>
          </p:cNvPr>
          <p:cNvSpPr txBox="1"/>
          <p:nvPr/>
        </p:nvSpPr>
        <p:spPr>
          <a:xfrm>
            <a:off x="760412" y="1066800"/>
            <a:ext cx="9906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Project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– Details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b="1" dirty="0"/>
              <a:t>Tools and Technologies used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  <a:p>
            <a:pPr algn="l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manipulation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Key Recommendations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959EF-18BD-040C-D2D4-1A0BDEFA7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4" y="346927"/>
            <a:ext cx="11583988" cy="553998"/>
          </a:xfrm>
        </p:spPr>
        <p:txBody>
          <a:bodyPr/>
          <a:lstStyle/>
          <a:p>
            <a:pPr algn="ctr"/>
            <a:r>
              <a:rPr lang="en-US" sz="3600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10E6-533F-AA40-D519-9ED9F6A72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812" y="1371600"/>
            <a:ext cx="11049793" cy="48006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is widely used, and Amazon is one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of  the platform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buying lipsticks.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Lipstick product data was collected from Amazon through web scraping.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details such as brand name, price, and customer ratings.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was used to understand the data clearly.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identify popular lipstick brands and common price ranges.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can help companies improve product planning and marketing strategies.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47948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1830388" y="0"/>
            <a:ext cx="15467013" cy="797321"/>
          </a:xfrm>
          <a:prstGeom prst="rect">
            <a:avLst/>
          </a:prstGeom>
        </p:spPr>
        <p:txBody>
          <a:bodyPr vert="horz" wrap="square" lIns="0" tIns="240970" rIns="0" bIns="0" rtlCol="0">
            <a:spAutoFit/>
          </a:bodyPr>
          <a:lstStyle/>
          <a:p>
            <a:pPr marL="405697" algn="ctr">
              <a:spcBef>
                <a:spcPts val="90"/>
              </a:spcBef>
            </a:pPr>
            <a:r>
              <a:rPr lang="en-IN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sz="36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8012" y="826548"/>
            <a:ext cx="11254628" cy="473270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endParaRPr lang="en-US" sz="2400" dirty="0"/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Naina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lilhare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working professional searching for a lipstick for regular use on Amazon.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notices that many lipsticks look similar in quality and features, yet their prices vary widely.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difficult to understand what factors actually justify higher prices.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unclear pricing creates confusion for customers and affects purchase decisions.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problem is to identify the key factors influencing lipstick prices.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Exploratory Data Analysis (EDA) to bring clarity to pricing and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335C-813F-1B98-2885-3A812E0E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1" y="228600"/>
            <a:ext cx="11524018" cy="553998"/>
          </a:xfrm>
        </p:spPr>
        <p:txBody>
          <a:bodyPr/>
          <a:lstStyle/>
          <a:p>
            <a:pPr algn="ctr"/>
            <a:r>
              <a:rPr lang="en-US" sz="3600" dirty="0"/>
              <a:t>Objective of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FE4D5-8804-0560-BF03-929F4EA29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709" y="1295400"/>
            <a:ext cx="10440987" cy="387798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DEECA6-84A6-5573-CBCB-843646804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09" y="1602152"/>
            <a:ext cx="1113490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lipstick product data to understand pricing, ratings, and customer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compare budget, mid-range, and premium lipsticks across different brands.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relationship between price, discounts, and customer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value-for-money lipsticks that help customers make better purchase decisions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9296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" y="15658"/>
            <a:ext cx="12188824" cy="637226"/>
          </a:xfrm>
          <a:prstGeom prst="rect">
            <a:avLst/>
          </a:prstGeom>
        </p:spPr>
        <p:txBody>
          <a:bodyPr vert="horz" wrap="square" lIns="0" tIns="82423" rIns="0" bIns="0" rtlCol="0">
            <a:spAutoFit/>
          </a:bodyPr>
          <a:lstStyle/>
          <a:p>
            <a:pPr marL="12698" algn="ctr">
              <a:spcBef>
                <a:spcPts val="1005"/>
              </a:spcBef>
              <a:buSzPct val="75000"/>
              <a:tabLst>
                <a:tab pos="353635" algn="l"/>
              </a:tabLst>
            </a:pPr>
            <a:r>
              <a:rPr lang="en-US" sz="3600" dirty="0"/>
              <a:t>Web Scraping – Details</a:t>
            </a:r>
            <a:endParaRPr lang="en-IN" sz="3600" u="none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A88F1D-79BC-9068-233A-AE8FAFB393B0}"/>
              </a:ext>
            </a:extLst>
          </p:cNvPr>
          <p:cNvSpPr txBox="1"/>
          <p:nvPr/>
        </p:nvSpPr>
        <p:spPr>
          <a:xfrm>
            <a:off x="455612" y="1676400"/>
            <a:ext cx="11506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from Amazon India using web scraping.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the Lipsticks product category.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structured data from multiple product pages.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fields included: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Name, Price, Rating,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Shade_Names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Attributes (availability, discount, category, etc.)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market information.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cleaned and organized into a tabular format for analysis.</a:t>
            </a:r>
          </a:p>
          <a:p>
            <a:pPr algn="ctr"/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3C6DC-19D6-6EDE-DC05-5C166A27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94" y="192737"/>
            <a:ext cx="11600218" cy="874063"/>
          </a:xfrm>
        </p:spPr>
        <p:txBody>
          <a:bodyPr/>
          <a:lstStyle/>
          <a:p>
            <a:pPr algn="ctr"/>
            <a:r>
              <a:rPr lang="en-US" sz="3600" dirty="0"/>
              <a:t>Tools and Technologies used</a:t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0DAC2-4DD9-CF93-99A2-329B224FC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518" y="1371600"/>
            <a:ext cx="10745787" cy="258532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-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programming language</a:t>
            </a:r>
            <a:endParaRPr lang="en-IN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browser automation and scraping dynamic content</a:t>
            </a:r>
            <a:endParaRPr lang="en-IN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sending HTTP requests to Amazon pages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– For storing and cleaning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&amp; Seaborn – For Visualization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345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79E85-CFD3-64A3-F1B7-7200FD75E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2" y="192736"/>
            <a:ext cx="11963400" cy="553998"/>
          </a:xfrm>
        </p:spPr>
        <p:txBody>
          <a:bodyPr/>
          <a:lstStyle/>
          <a:p>
            <a:pPr algn="ctr"/>
            <a:r>
              <a:rPr lang="en-US" sz="3600" dirty="0"/>
              <a:t>Data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3162A2-D0B9-48F5-857D-A513E210A1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6718" y="1066800"/>
            <a:ext cx="1135538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420 lipstick products.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Brand_name, weight ,shade_name, and shade_intensity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information covers MRP, selling price, and discount amount.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ratings are recorded on a 5-point scale.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are grouped into price and rating categories.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Shade intensity indicates light, medium, or heavy shades.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030350-F92B-CA8A-A4B1-9988EFB86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92" y="3810000"/>
            <a:ext cx="12060333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58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FFA0-E3AB-747F-298B-F4318E1B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0AF1A55-5F67-5BE0-E186-17991E393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3212" y="152400"/>
            <a:ext cx="112776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8" algn="ctr">
              <a:spcBef>
                <a:spcPts val="95"/>
              </a:spcBef>
            </a:pPr>
            <a:r>
              <a:rPr lang="en-US" sz="3200" dirty="0"/>
              <a:t>Data Cleaning &amp; Manipulation</a:t>
            </a:r>
            <a:endParaRPr sz="3200" b="1" u="none" spc="-1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CFB1F-7FBB-37D3-266B-660D349D1FF5}"/>
              </a:ext>
            </a:extLst>
          </p:cNvPr>
          <p:cNvSpPr txBox="1"/>
          <p:nvPr/>
        </p:nvSpPr>
        <p:spPr>
          <a:xfrm>
            <a:off x="608012" y="990600"/>
            <a:ext cx="11277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Data Types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MRP and Selling Price columns to integer format.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Rating column to numeric (float) for accurate analysis.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categorical columns such as Price Category, Rating Category, and Shade Intensity to category data type.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Discount Amount by calculating the difference between MRP and Selling Price.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Price Category to group lipsticks into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Budget, Low-Mid, Mid, Upper-Mid, and Premium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Rating Category to classify customer ratings into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Poor, Average, Good, and Excellent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Handling Missing Values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values in Rating and Rating Category using the mode technique.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&amp; Data Consistency Check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boxplots to detect outliers in numerical variables.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negative values in Discount Amount.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negative discount values to positive using the absolute value method to ensure data consistency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45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1EDAC-477C-FD93-CC15-208CDE195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6076717-B859-507F-12E0-54A896E73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81000"/>
            <a:ext cx="12038011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8" algn="ctr">
              <a:spcBef>
                <a:spcPts val="90"/>
              </a:spcBef>
            </a:pPr>
            <a:r>
              <a:rPr lang="en-IN" sz="3200" dirty="0"/>
              <a:t>UNIVARIATE ANALYSIS</a:t>
            </a:r>
            <a:endParaRPr sz="3200" b="1" u="none" spc="-1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57BD2FB-F67E-C8CC-994C-EBE19ADDF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12" y="1095375"/>
            <a:ext cx="466725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48BC93-7601-319B-54BB-E5F5AB9DA089}"/>
              </a:ext>
            </a:extLst>
          </p:cNvPr>
          <p:cNvSpPr txBox="1"/>
          <p:nvPr/>
        </p:nvSpPr>
        <p:spPr>
          <a:xfrm>
            <a:off x="5865812" y="1600200"/>
            <a:ext cx="6019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Type: Histogram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lipsticks are low-priced, showing people prefer affordable options.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lipsticks are few, and only a  small number fall in the premium range.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174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DE25D-4767-7EC9-AC43-342F42F4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C76B57F-C370-FC3F-123E-36352F9816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8453" y="228600"/>
            <a:ext cx="12038011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8" algn="l">
              <a:spcBef>
                <a:spcPts val="90"/>
              </a:spcBef>
            </a:pPr>
            <a:r>
              <a:rPr lang="en-US" sz="3200" u="none" dirty="0"/>
              <a:t>Customer Rating Distribution</a:t>
            </a:r>
            <a:endParaRPr sz="3200" b="1" u="none" spc="-1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AEC59-8B4A-0801-0BBF-F160CADC520D}"/>
              </a:ext>
            </a:extLst>
          </p:cNvPr>
          <p:cNvSpPr txBox="1"/>
          <p:nvPr/>
        </p:nvSpPr>
        <p:spPr>
          <a:xfrm>
            <a:off x="7085012" y="1219200"/>
            <a:ext cx="480059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Type: Box Plot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lipsticks have ratings around 4, showing good customer satisfaction.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products have very low or very high ratings.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ADBF6DF-2EFF-AF0D-B409-68577824C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6932612" cy="531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69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73E35-3B39-4529-55CE-CE3A56D5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518B6BB-5E4F-7B17-EDBE-7DE17E45EB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5570" y="228600"/>
            <a:ext cx="11429999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US" sz="3200" u="none" dirty="0"/>
              <a:t>Shade Intensity Preference </a:t>
            </a:r>
            <a:endParaRPr lang="en-US" sz="3200" b="0" u="none" dirty="0"/>
          </a:p>
        </p:txBody>
      </p:sp>
      <p:pic>
        <p:nvPicPr>
          <p:cNvPr id="9218" name="Picture 2" descr="No description has been provided for this image">
            <a:extLst>
              <a:ext uri="{FF2B5EF4-FFF2-40B4-BE49-F238E27FC236}">
                <a16:creationId xmlns:a16="http://schemas.microsoft.com/office/drawing/2014/main" id="{7BBAB5D8-DAFB-A10D-4D84-50D62A513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90" y="1219200"/>
            <a:ext cx="52578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A1D271-E170-AB50-2E9D-21AA34658087}"/>
              </a:ext>
            </a:extLst>
          </p:cNvPr>
          <p:cNvSpPr txBox="1"/>
          <p:nvPr/>
        </p:nvSpPr>
        <p:spPr>
          <a:xfrm>
            <a:off x="6704012" y="1371600"/>
            <a:ext cx="46482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Type: Pie Chart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shades are the most preferred by customers.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and heavy shades have lower but notable demand.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769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19E17-A9A5-F650-A442-C872C4836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7BF5E36-D8B5-52B4-087A-FC82CF365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664" y="152400"/>
            <a:ext cx="12038011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8" algn="l">
              <a:spcBef>
                <a:spcPts val="90"/>
              </a:spcBef>
            </a:pPr>
            <a:r>
              <a:rPr lang="en-US" sz="3200" u="none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Count by Price Category </a:t>
            </a:r>
            <a:endParaRPr sz="3200" u="none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No description has been provided for this image">
            <a:extLst>
              <a:ext uri="{FF2B5EF4-FFF2-40B4-BE49-F238E27FC236}">
                <a16:creationId xmlns:a16="http://schemas.microsoft.com/office/drawing/2014/main" id="{834F107F-DD1C-39B4-C669-6BBBCE73E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29" y="1066800"/>
            <a:ext cx="5438775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B7B550-951E-129E-BE96-02225D3E9868}"/>
              </a:ext>
            </a:extLst>
          </p:cNvPr>
          <p:cNvSpPr txBox="1"/>
          <p:nvPr/>
        </p:nvSpPr>
        <p:spPr>
          <a:xfrm>
            <a:off x="6551612" y="1371600"/>
            <a:ext cx="48006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Type: Bar Chart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products belong to the mid-range price category.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 products are very few compared to other categories.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677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F4C2D-015D-9C18-3185-324074796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BB66F8E-911F-6C01-6F1E-0D455B9D46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77788" y="29291"/>
            <a:ext cx="12038011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8" algn="ctr">
              <a:spcBef>
                <a:spcPts val="90"/>
              </a:spcBef>
            </a:pPr>
            <a:r>
              <a:rPr lang="en-US" sz="3200" dirty="0"/>
              <a:t>BIVARIATE ANALYSIS</a:t>
            </a:r>
            <a:r>
              <a:rPr lang="en-US" sz="3200" b="0" dirty="0">
                <a:hlinkClick r:id="rId2"/>
              </a:rPr>
              <a:t>¶</a:t>
            </a:r>
            <a:endParaRPr sz="3200" b="1" u="none" spc="-1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18A1A-F41F-EBB3-A7A9-C054DA965902}"/>
              </a:ext>
            </a:extLst>
          </p:cNvPr>
          <p:cNvSpPr txBox="1"/>
          <p:nvPr/>
        </p:nvSpPr>
        <p:spPr>
          <a:xfrm>
            <a:off x="7103258" y="1219200"/>
            <a:ext cx="45720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Scatter Plot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products get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ratings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with small discounts.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Bigger discounts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always mean better ratings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D205B2-029A-4D53-F53D-BA9941478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2" y="884984"/>
            <a:ext cx="6501673" cy="521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536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0FFBD-6765-9B85-CBC4-A9FC11D7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No description has been provided for this image">
            <a:extLst>
              <a:ext uri="{FF2B5EF4-FFF2-40B4-BE49-F238E27FC236}">
                <a16:creationId xmlns:a16="http://schemas.microsoft.com/office/drawing/2014/main" id="{8B1D4F91-9BBC-0501-4838-4501F5AD8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2" y="953566"/>
            <a:ext cx="5943600" cy="566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6AEE38-1E16-EA73-BF5B-478879E82C0A}"/>
              </a:ext>
            </a:extLst>
          </p:cNvPr>
          <p:cNvSpPr txBox="1"/>
          <p:nvPr/>
        </p:nvSpPr>
        <p:spPr>
          <a:xfrm>
            <a:off x="7085012" y="1017034"/>
            <a:ext cx="43434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 Chart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 products have the highest average selling price.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products have the lowest average selling price.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CFBC2A-7F87-A4C1-680F-73C2A307A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3" y="0"/>
            <a:ext cx="11828818" cy="492443"/>
          </a:xfrm>
        </p:spPr>
        <p:txBody>
          <a:bodyPr/>
          <a:lstStyle/>
          <a:p>
            <a:pPr algn="l"/>
            <a:r>
              <a:rPr lang="en-US" sz="3200" u="none" dirty="0"/>
              <a:t>Average Selling Price Across Price Categories</a:t>
            </a:r>
          </a:p>
        </p:txBody>
      </p:sp>
    </p:spTree>
    <p:extLst>
      <p:ext uri="{BB962C8B-B14F-4D97-AF65-F5344CB8AC3E}">
        <p14:creationId xmlns:p14="http://schemas.microsoft.com/office/powerpoint/2010/main" val="3907435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3C97-951D-CEC3-554F-DB9357A14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6702D0A-BAE4-3B78-32B3-115E10165C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812" y="76200"/>
            <a:ext cx="11679431" cy="5036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l"/>
            <a:r>
              <a:rPr lang="en-US" sz="3200" u="none" dirty="0"/>
              <a:t>MRP vs Selling price</a:t>
            </a:r>
          </a:p>
        </p:txBody>
      </p:sp>
      <p:pic>
        <p:nvPicPr>
          <p:cNvPr id="6146" name="Picture 2" descr="No description has been provided for this image">
            <a:extLst>
              <a:ext uri="{FF2B5EF4-FFF2-40B4-BE49-F238E27FC236}">
                <a16:creationId xmlns:a16="http://schemas.microsoft.com/office/drawing/2014/main" id="{D959D0DF-8FBB-48AA-5C70-D8E35BE13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816" y="953861"/>
            <a:ext cx="6704012" cy="5054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51000A-5792-C107-72EC-432815B9F997}"/>
              </a:ext>
            </a:extLst>
          </p:cNvPr>
          <p:cNvSpPr txBox="1"/>
          <p:nvPr/>
        </p:nvSpPr>
        <p:spPr>
          <a:xfrm>
            <a:off x="6855619" y="1156937"/>
            <a:ext cx="4648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Scatter Plot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products have selling prices much lower than their MRP, showing heavy discounts.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high-MRP products exist, but they are sold in very low numbers.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434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70FD-9FAA-6E35-9D23-D0F3559D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2588" y="63749"/>
            <a:ext cx="11979631" cy="492443"/>
          </a:xfrm>
        </p:spPr>
        <p:txBody>
          <a:bodyPr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C4CAE-2FD4-F2E6-2C93-14458CAD0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A17D806-6E56-361D-3A86-CC44D7464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37" y="1190625"/>
            <a:ext cx="6664176" cy="4957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692E1F-1C7F-73EA-F23B-99A242019D55}"/>
              </a:ext>
            </a:extLst>
          </p:cNvPr>
          <p:cNvSpPr txBox="1"/>
          <p:nvPr/>
        </p:nvSpPr>
        <p:spPr>
          <a:xfrm>
            <a:off x="7364263" y="1371600"/>
            <a:ext cx="441174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Scatter Plot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Higher-priced lipsticks generally have higher discounts.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and mid-range products are clustered at lower prices with smaller discounts.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56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26E3BF-E6B2-DFA0-C046-2A16BDD3478F}"/>
              </a:ext>
            </a:extLst>
          </p:cNvPr>
          <p:cNvSpPr txBox="1"/>
          <p:nvPr/>
        </p:nvSpPr>
        <p:spPr>
          <a:xfrm>
            <a:off x="6704012" y="1143000"/>
            <a:ext cx="4949325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Type: Bar Plot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lipsticks have good ratings for all types of shades.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Customers care more about product quality than shade or price.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A16356-0FC7-47AE-719A-C68002B47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4" y="481310"/>
            <a:ext cx="6514578" cy="5386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77A28C-7D79-1424-CA8E-90A4F67DD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645" y="6248400"/>
            <a:ext cx="2805180" cy="52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74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FA2FE-7E6D-B090-4C65-35CB45CC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E43EB90-E059-A3A6-4E35-E64A045362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30188" y="0"/>
            <a:ext cx="12038011" cy="9964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8" algn="ctr">
              <a:spcBef>
                <a:spcPts val="90"/>
              </a:spcBef>
            </a:pPr>
            <a:r>
              <a:rPr lang="en-US" sz="3200" dirty="0"/>
              <a:t>Hypothesis 1</a:t>
            </a:r>
            <a:br>
              <a:rPr lang="en-US" b="0" dirty="0"/>
            </a:br>
            <a:endParaRPr sz="3200" b="1" u="none" spc="-1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170" name="Picture 2" descr="No description has been provided for this image">
            <a:extLst>
              <a:ext uri="{FF2B5EF4-FFF2-40B4-BE49-F238E27FC236}">
                <a16:creationId xmlns:a16="http://schemas.microsoft.com/office/drawing/2014/main" id="{C377602C-A97C-707B-7014-08742A73F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6475412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EA30A9-56A4-E0EA-0C0D-FBE87E24F3C5}"/>
              </a:ext>
            </a:extLst>
          </p:cNvPr>
          <p:cNvSpPr txBox="1"/>
          <p:nvPr/>
        </p:nvSpPr>
        <p:spPr>
          <a:xfrm>
            <a:off x="6705600" y="1295400"/>
            <a:ext cx="51800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Type: Box Plot</a:t>
            </a: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customer ratings differ across price categories?</a:t>
            </a:r>
            <a:r>
              <a:rPr lang="en-US" sz="2800" dirty="0"/>
              <a:t> </a:t>
            </a:r>
            <a:br>
              <a:rPr lang="en-US" sz="2400" b="0" dirty="0"/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to reject the Null Hypothesis.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ratings are almost the same for budget, mid-range, luxury, and premium products, so paying more does not always mean better ratings.</a:t>
            </a:r>
          </a:p>
        </p:txBody>
      </p:sp>
    </p:spTree>
    <p:extLst>
      <p:ext uri="{BB962C8B-B14F-4D97-AF65-F5344CB8AC3E}">
        <p14:creationId xmlns:p14="http://schemas.microsoft.com/office/powerpoint/2010/main" val="27537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9F3B-A4E1-DDC5-ED50-37EC9B6D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1888579-20D3-C1C5-7221-1354E3CD0C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77788" y="83666"/>
            <a:ext cx="12038011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8" algn="ctr">
              <a:spcBef>
                <a:spcPts val="90"/>
              </a:spcBef>
            </a:pPr>
            <a:r>
              <a:rPr lang="en-US" sz="3200" dirty="0"/>
              <a:t>Hypothesis 2</a:t>
            </a:r>
            <a:endParaRPr sz="3200" u="none" spc="-1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4338" name="Picture 2" descr="No description has been provided for this image">
            <a:extLst>
              <a:ext uri="{FF2B5EF4-FFF2-40B4-BE49-F238E27FC236}">
                <a16:creationId xmlns:a16="http://schemas.microsoft.com/office/drawing/2014/main" id="{35ADD2E6-E712-04A9-9581-EA6CAC6D8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" y="1143000"/>
            <a:ext cx="61722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39FEA2-E4DF-7EF3-CB17-97E46A770556}"/>
              </a:ext>
            </a:extLst>
          </p:cNvPr>
          <p:cNvSpPr txBox="1"/>
          <p:nvPr/>
        </p:nvSpPr>
        <p:spPr>
          <a:xfrm>
            <a:off x="6473827" y="1143000"/>
            <a:ext cx="571499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Type: Bar Chart</a:t>
            </a:r>
          </a:p>
          <a:p>
            <a:r>
              <a:rPr lang="en-US" sz="2800" dirty="0"/>
              <a:t>Is shade intensity dependent on price category?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the Null Hypothesis.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shades are more popular across all price categories, especially in mid-range products, indicating that price category influences shade intensity preference.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459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E855E-5794-194F-409A-B6C10417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03618BE-8A1E-3945-115C-93D3E26A08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4552" y="3937"/>
            <a:ext cx="12038011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8" algn="ctr">
              <a:spcBef>
                <a:spcPts val="90"/>
              </a:spcBef>
            </a:pPr>
            <a:r>
              <a:rPr lang="en-US" sz="3200" dirty="0"/>
              <a:t>Hypothesis 3</a:t>
            </a:r>
            <a:endParaRPr sz="3200" b="1" u="none" spc="-1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3314" name="Picture 2" descr="No description has been provided for this image">
            <a:extLst>
              <a:ext uri="{FF2B5EF4-FFF2-40B4-BE49-F238E27FC236}">
                <a16:creationId xmlns:a16="http://schemas.microsoft.com/office/drawing/2014/main" id="{58A005FC-BB8A-43FE-59EC-8EB89B64A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" y="1219200"/>
            <a:ext cx="67056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840F84-B79C-242F-723C-D00C876DE06B}"/>
              </a:ext>
            </a:extLst>
          </p:cNvPr>
          <p:cNvSpPr txBox="1"/>
          <p:nvPr/>
        </p:nvSpPr>
        <p:spPr>
          <a:xfrm>
            <a:off x="7152316" y="940307"/>
            <a:ext cx="48768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Type: Box Plot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discount level influence product rating?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to reject the Null Hypothesis.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ratings are similar for both high-discount and low-discount products, indicating that higher discounts do not significantly impact customer ratings.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737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9DFBAF-B680-A6EA-37E8-94E20299EB6A}"/>
              </a:ext>
            </a:extLst>
          </p:cNvPr>
          <p:cNvSpPr txBox="1"/>
          <p:nvPr/>
        </p:nvSpPr>
        <p:spPr>
          <a:xfrm>
            <a:off x="1141412" y="1443841"/>
            <a:ext cx="990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5C7EEDC-A3D3-B7F8-C490-B8B88CFC8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1443841"/>
            <a:ext cx="106680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Amazon has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strict scraping restrictions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data collection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 and discounts change frequently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data may vary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same lipstick is sold by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sellers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causing price and rating differences.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products have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or biased reviews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affecting analysis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FC343-31D4-6928-7C0C-E6193FD38E08}"/>
              </a:ext>
            </a:extLst>
          </p:cNvPr>
          <p:cNvSpPr txBox="1"/>
          <p:nvPr/>
        </p:nvSpPr>
        <p:spPr>
          <a:xfrm>
            <a:off x="150812" y="304801"/>
            <a:ext cx="1165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  <a:endParaRPr lang="en-US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E3AFD3-40FB-8FD8-1206-6FDCC81F9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212" y="6199671"/>
            <a:ext cx="2964912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2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F65208-9026-9068-2346-5AD3B172C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" y="1447800"/>
            <a:ext cx="107442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more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product quality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rather than offering very high discounts.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a strong range of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affordable and mid-range lipsticks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as these are most preferred by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discounts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instead of heavy discounts to protect brand value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shade and finish descriptions for better customer understanding.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2256-B39D-1805-BC15-4F9DCEE455EA}"/>
              </a:ext>
            </a:extLst>
          </p:cNvPr>
          <p:cNvSpPr txBox="1"/>
          <p:nvPr/>
        </p:nvSpPr>
        <p:spPr>
          <a:xfrm>
            <a:off x="0" y="210524"/>
            <a:ext cx="11733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</a:rPr>
              <a:t>Key Recommendations </a:t>
            </a:r>
            <a:endParaRPr lang="en-US" sz="28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8E2CC-37CE-6A16-3FA8-81834D78D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212" y="6199671"/>
            <a:ext cx="2964912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79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7D6E-CE25-D600-2CF4-87A4A509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93" y="192736"/>
            <a:ext cx="11979631" cy="676980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86B46-880A-D5F9-880E-61F86191B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824" y="1295400"/>
            <a:ext cx="11126787" cy="4585871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Lipsticks are the most commonly purchased in cosmetic products.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lipsticks fall in the Budget and Low-Mid price range.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are generally good (around 3.5 to 4.5).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 and regular-use lipstick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the most.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 and ratings vary by brand and lipstick type.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 are mostly similar across lipstick categories.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Affordable, well-rated lipsticks are the most popular, and targeted marketing can improve sales.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056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1412" y="2011680"/>
            <a:ext cx="4465320" cy="283464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23602" y="2998477"/>
            <a:ext cx="2357755" cy="1365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8" marR="5080" algn="ctr">
              <a:spcBef>
                <a:spcPts val="90"/>
              </a:spcBef>
            </a:pPr>
            <a:r>
              <a:rPr sz="3200" b="1" u="none" spc="320" dirty="0">
                <a:solidFill>
                  <a:srgbClr val="C00000"/>
                </a:solidFill>
                <a:latin typeface="Calibri (Body)"/>
                <a:cs typeface="Palatino Linotype"/>
              </a:rPr>
              <a:t>THANK </a:t>
            </a:r>
            <a:r>
              <a:rPr sz="3200" b="1" u="none" spc="395" dirty="0">
                <a:solidFill>
                  <a:srgbClr val="C00000"/>
                </a:solidFill>
                <a:latin typeface="Calibri (Body)"/>
                <a:cs typeface="Palatino Linotype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2167</TotalTime>
  <Words>1260</Words>
  <Application>Microsoft Office PowerPoint</Application>
  <PresentationFormat>Custom</PresentationFormat>
  <Paragraphs>181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(Body)</vt:lpstr>
      <vt:lpstr>Segoe UI Semibold</vt:lpstr>
      <vt:lpstr>Tahoma</vt:lpstr>
      <vt:lpstr>Times New Roman</vt:lpstr>
      <vt:lpstr>Tw Cen MT</vt:lpstr>
      <vt:lpstr>Wingdings</vt:lpstr>
      <vt:lpstr>Office Theme</vt:lpstr>
      <vt:lpstr>PRESENTATION ON Amazon Lipstick Sales Analysis </vt:lpstr>
      <vt:lpstr>Agenda</vt:lpstr>
      <vt:lpstr>Introduction</vt:lpstr>
      <vt:lpstr>Business Problem</vt:lpstr>
      <vt:lpstr>Objective of Project</vt:lpstr>
      <vt:lpstr>Web Scraping – Details</vt:lpstr>
      <vt:lpstr>Tools and Technologies used </vt:lpstr>
      <vt:lpstr>Data Description</vt:lpstr>
      <vt:lpstr>Data Cleaning &amp; Manipulation</vt:lpstr>
      <vt:lpstr>UNIVARIATE ANALYSIS</vt:lpstr>
      <vt:lpstr>Customer Rating Distribution</vt:lpstr>
      <vt:lpstr>Shade Intensity Preference </vt:lpstr>
      <vt:lpstr>Product Count by Price Category </vt:lpstr>
      <vt:lpstr>BIVARIATE ANALYSIS¶</vt:lpstr>
      <vt:lpstr>Average Selling Price Across Price Categories</vt:lpstr>
      <vt:lpstr>MRP vs Selling price</vt:lpstr>
      <vt:lpstr>Multivariate Analysis</vt:lpstr>
      <vt:lpstr>PowerPoint Presentation</vt:lpstr>
      <vt:lpstr>Hypothesis 1 </vt:lpstr>
      <vt:lpstr>Hypothesis 2</vt:lpstr>
      <vt:lpstr>Hypothesis 3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sameer</dc:creator>
  <cp:lastModifiedBy>chink chinku</cp:lastModifiedBy>
  <cp:revision>21</cp:revision>
  <dcterms:created xsi:type="dcterms:W3CDTF">2025-11-04T14:04:26Z</dcterms:created>
  <dcterms:modified xsi:type="dcterms:W3CDTF">2026-01-31T10:07:23Z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LastSaved">
    <vt:filetime>2025-11-04T00:00:00Z</vt:filetime>
  </property>
  <property fmtid="{D5CDD505-2E9C-101B-9397-08002B2CF9AE}" pid="4" name="Producer">
    <vt:lpwstr>iLovePDF</vt:lpwstr>
  </property>
</Properties>
</file>